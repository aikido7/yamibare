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640080"/>
            <a:ext cx="3200400" cy="3200400"/>
          </a:xfrm>
          <a:prstGeom prst="ELLIPSE">
            <a:avLst/>
          </a:prstGeom>
          <a:solidFill>
            <a:srgbClr val="FFD54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1280160"/>
            <a:ext cx="1920240" cy="1920240"/>
          </a:xfrm>
          <a:prstGeom prst="ELLIPSE">
            <a:avLst/>
          </a:prstGeom>
          <a:solidFill>
            <a:srgbClr val="FFD54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5544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🔦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ヤミバレ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届いたら、貼るだけ。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48463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若者を「被害者」にも「実行役」にもさせない、闇バイト・詐欺チェッカー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580644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都知事杯オープンデータ・ハッカソン2026  |  チーム ヤミバレ  |  yamibare.pages.dev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 — 令和7年・警察庁統計(実データ)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「詐欺は高齢者の問題」は、もう古い。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02736" cy="2834640"/>
          </a:xfrm>
          <a:prstGeom prst="ROUNDED_RECTANGLE">
            <a:avLst>
              <a:gd name="adj" fmla="val 3871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4D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30代</a:t>
            </a:r>
            <a:pPr indent="0" marL="0">
              <a:buNone/>
            </a:pPr>
            <a:r>
              <a:rPr lang="en-US" sz="1800" b="1" dirty="0">
                <a:solidFill>
                  <a:srgbClr val="FF4D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が最多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ニセ警察詐欺の被害件数。30代 2,239件、20代 1,718件で若い世代が上位2つを占める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602736" cy="2834640"/>
          </a:xfrm>
          <a:prstGeom prst="ROUNDED_RECTANGLE">
            <a:avLst>
              <a:gd name="adj" fmla="val 3871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24028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4D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8割</a:t>
            </a:r>
            <a:pPr indent="0" marL="0">
              <a:buNone/>
            </a:pPr>
            <a:r>
              <a:rPr lang="en-US" sz="1800" b="1" dirty="0">
                <a:solidFill>
                  <a:srgbClr val="FF4D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超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26280" y="324612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警察が約1年で保護した闇バイト応募者544人のうち、10〜30代の割合(20代45.2%・10代24.8%)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602736" cy="2834640"/>
          </a:xfrm>
          <a:prstGeom prst="ROUNDED_RECTANGLE">
            <a:avLst>
              <a:gd name="adj" fmla="val 3871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24028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1,414</a:t>
            </a:r>
            <a:pPr indent="0" marL="0">
              <a:buNone/>
            </a:pPr>
            <a:r>
              <a:rPr lang="en-US" sz="18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億円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75320" y="324612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特殊詐欺の年間被害額(前年のほぼ2倍)。SNS型投資詐欺は9,538件と約1.5倍に急増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100816" cy="1325880"/>
          </a:xfrm>
          <a:prstGeom prst="ROUNDED_RECTANGLE">
            <a:avLst>
              <a:gd name="adj" fmla="val 8276"/>
            </a:avLst>
          </a:prstGeom>
          <a:solidFill>
            <a:srgbClr val="232A4A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若者は、騙される被害者にも、使い捨ての実行役にもなる。</a:t>
            </a:r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入口は日常のSNS広告だ。国は2026年8月7日、8省庁連名でGoogle・Meta・TikTok・X・LINEヤフーに「なりすまし詐欺広告」対策を要請した。</a:t>
            </a:r>
            <a:pPr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だがそれは事業者側の対策。いま自分に届いた広告を確かめる手段は、利用者にない。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🔦 ヤミバレ — 届いたら、貼るだけ。   yamibare.pages.dev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 — サービスデザイン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貼るだけ、3秒。届いた瞬間の行動を変える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02736" cy="2651760"/>
          </a:xfrm>
          <a:prstGeom prst="ROUNDED_RECTANGLE">
            <a:avLst>
              <a:gd name="adj" fmla="val 4138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0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176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知る・貼る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145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4コマ漫画で手口を知り、届いた怪しいDMはLINE風チャットにそのまま貼る。読む教材ではなく"使う道具"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06824" y="1920240"/>
            <a:ext cx="3602736" cy="2651760"/>
          </a:xfrm>
          <a:prstGeom prst="ROUNDED_RECTANGLE">
            <a:avLst>
              <a:gd name="adj" fmla="val 4138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2148840"/>
            <a:ext cx="502920" cy="502920"/>
          </a:xfrm>
          <a:prstGeom prst="ELLIPSE">
            <a:avLst/>
          </a:prstGeom>
          <a:solidFill>
            <a:srgbClr val="FFD54D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0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75504" y="2176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ヤミがバレる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35424" y="2834640"/>
            <a:ext cx="3145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ヤバ度0〜99と「引っかかった言葉」を根拠つきで表示。9カテゴリ(闇バイト/ニセ警察/なりすまし広告/SNS投資他)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65008" y="1920240"/>
            <a:ext cx="3602736" cy="2651760"/>
          </a:xfrm>
          <a:prstGeom prst="ROUNDED_RECTANGLE">
            <a:avLst>
              <a:gd name="adj" fmla="val 4138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2148840"/>
            <a:ext cx="502920" cy="502920"/>
          </a:xfrm>
          <a:prstGeom prst="ELLIPSE">
            <a:avLst/>
          </a:prstGeom>
          <a:solidFill>
            <a:srgbClr val="4DC9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0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0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33688" y="2176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出口へつなぐ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93608" y="2834640"/>
            <a:ext cx="3145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公的実データで「自分ごと化」→ #9110・ヤング・テレホン等へワンタップ発信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100816" cy="1234440"/>
          </a:xfrm>
          <a:prstGeom prst="ROUNDED_RECTANGLE">
            <a:avLst>
              <a:gd name="adj" fmla="val 8889"/>
            </a:avLst>
          </a:prstGeom>
          <a:solidFill>
            <a:srgbClr val="2A142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4D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🕳️ 闇バイトには専用警告。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「もう応募してしまっても、今なら戻れる(警察の保護実績544件)」— 脅すのではなく、出口を示す。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🔦 ヤミバレ — 届いたら、貼るだけ。   yamibare.pages.dev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 — 公開中・全機能検証済み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スマホで開いて、貼って、3秒。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834640" cy="4389120"/>
          </a:xfrm>
          <a:prstGeom prst="ROUNDED_RECTANGLE">
            <a:avLst>
              <a:gd name="adj" fmla="val 8065"/>
            </a:avLst>
          </a:prstGeom>
          <a:solidFill>
            <a:srgbClr val="070912"/>
          </a:solidFill>
          <a:ln w="25400">
            <a:solidFill>
              <a:srgbClr val="2A3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🔦 ヤミバレ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2103120" cy="777240"/>
          </a:xfrm>
          <a:prstGeom prst="ROUNDED_RECTANGLE">
            <a:avLst>
              <a:gd name="adj" fmla="val 11765"/>
            </a:avLst>
          </a:prstGeom>
          <a:solidFill>
            <a:srgbClr val="06C755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43230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424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【急募】日給5万円 荷物を運ぶだけ。身分証を送って。詳細はTelegramで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51560" y="3291840"/>
            <a:ext cx="2331720" cy="1371600"/>
          </a:xfrm>
          <a:prstGeom prst="ROUNDED_RECTANGLE">
            <a:avLst>
              <a:gd name="adj" fmla="val 6667"/>
            </a:avLst>
          </a:prstGeom>
          <a:solidFill>
            <a:srgbClr val="232A4A"/>
          </a:solidFill>
          <a:ln w="19050">
            <a:solidFill>
              <a:srgbClr val="FF4D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🚨 ソレヤバ!!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76732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ヤバ度 90/100 ・ 🕳️闇バイトの疑い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⚠️「日給5万」「運ぶだけ」「身分証」「Telegram」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51560" y="4800600"/>
            <a:ext cx="2331720" cy="777240"/>
          </a:xfrm>
          <a:prstGeom prst="ROUNDED_RECTANGLE">
            <a:avLst>
              <a:gd name="adj" fmla="val 11765"/>
            </a:avLst>
          </a:prstGeom>
          <a:solidFill>
            <a:srgbClr val="2A1420"/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それ、闇バイトの入口です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📞 #9110に電話(タップ)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51560" y="5715000"/>
            <a:ext cx="2331720" cy="365760"/>
          </a:xfrm>
          <a:prstGeom prst="ROUNDED_RECTANGLE">
            <a:avLst>
              <a:gd name="adj" fmla="val 20000"/>
            </a:avLst>
          </a:prstGeom>
          <a:solidFill>
            <a:srgbClr val="0B0E1C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5742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貼るだけで判定…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06240" y="1828800"/>
            <a:ext cx="7406640" cy="795528"/>
          </a:xfrm>
          <a:prstGeom prst="ROUNDED_RECTANGLE">
            <a:avLst>
              <a:gd name="adj" fmla="val 13793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9019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📰 今日の手口マンガ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23113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実際の手口を4コマで。読んだ直後に同じ手口を判定で試せる(全6本・日替わり)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2734056"/>
            <a:ext cx="7406640" cy="795528"/>
          </a:xfrm>
          <a:prstGeom prst="ROUNDED_RECTANGLE">
            <a:avLst>
              <a:gd name="adj" fmla="val 13793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8072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🚩 根拠を見せる判定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31363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「どの言葉が危険か」を1つずつ提示。ヤバ度メーターで直感的に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06240" y="3639312"/>
            <a:ext cx="7406640" cy="795528"/>
          </a:xfrm>
          <a:prstGeom prst="ROUNDED_RECTANGLE">
            <a:avLst>
              <a:gd name="adj" fmla="val 13793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71246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📊 実データで自分ごと化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04164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「あなたの年代で急増」「あなたの区で688件」— 公的統計が根拠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06240" y="4544568"/>
            <a:ext cx="7406640" cy="795528"/>
          </a:xfrm>
          <a:prstGeom prst="ROUNDED_RECTANGLE">
            <a:avLst>
              <a:gd name="adj" fmla="val 13793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46177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🆘 相談まで1タップ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80560" y="49469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#9110・ヤング・テレホン・188へ発信。誰にも知られず相談できる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06240" y="5449824"/>
            <a:ext cx="7406640" cy="795528"/>
          </a:xfrm>
          <a:prstGeom prst="ROUNDED_RECTANGLE">
            <a:avLst>
              <a:gd name="adj" fmla="val 13793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552297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📸 シェアカード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585216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判定結果をPNGカード化。友達に回して「守る側」を増やす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🔦 ヤミバレ — 届いたら、貼るだけ。   yamibare.pages.dev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オープンデータ活用 — 判定根拠はすべて公的実データ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「今・ここ・あなたの年代」に刺さる根拠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100816" cy="969264"/>
          </a:xfrm>
          <a:prstGeom prst="ROUNDED_RECTANGLE">
            <a:avLst>
              <a:gd name="adj" fmla="val 11321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警視庁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05840" cy="329184"/>
          </a:xfrm>
          <a:prstGeom prst="ROUNDED_RECTANGLE">
            <a:avLst>
              <a:gd name="adj" fmla="val 22222"/>
            </a:avLst>
          </a:prstGeom>
          <a:solidFill>
            <a:srgbClr val="FFD54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0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9202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区市町村の町丁別・手口別認知件数(令和7年CSV)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40280" y="22860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59区市町村+町丁TOP3を自動集計して内蔵。「わがまち」を選ぶと判定根拠が自分の街の実数に変わる(都内計10,521件)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11100816" cy="969264"/>
          </a:xfrm>
          <a:prstGeom prst="ROUNDED_RECTANGLE">
            <a:avLst>
              <a:gd name="adj" fmla="val 11321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99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警察庁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3410712"/>
            <a:ext cx="1005840" cy="329184"/>
          </a:xfrm>
          <a:prstGeom prst="ROUNDED_RECTANGLE">
            <a:avLst>
              <a:gd name="adj" fmla="val 22222"/>
            </a:avLst>
          </a:prstGeom>
          <a:solidFill>
            <a:srgbClr val="FFD5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107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0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999232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特殊詐欺・SNS型投資/ロマンス詐欺 認知・検挙状況(令和7年確定値)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40280" y="3364992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年代別・手口別の実数を判定カードに表示。「30代最多・20代2位」など若者への根拠提示の核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11100816" cy="969264"/>
          </a:xfrm>
          <a:prstGeom prst="ROUNDED_RECTANGLE">
            <a:avLst>
              <a:gd name="adj" fmla="val 11321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78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8省庁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4489704"/>
            <a:ext cx="1005840" cy="329184"/>
          </a:xfrm>
          <a:prstGeom prst="ROUNDED_RECTANGLE">
            <a:avLst>
              <a:gd name="adj" fmla="val 22222"/>
            </a:avLst>
          </a:prstGeom>
          <a:solidFill>
            <a:srgbClr val="FFD54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897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0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4078224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SNS等におけるなりすまし詐欺広告に関する対策の強化について(要請)/令和8年8月7日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240280" y="4443984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詐欺の入口となった広告の割合(YouTube27.1%・Instagram16.3%・TikTok10.4%他)を判定根拠に搭載。国の要請=事業者側の対策、ヤミバレ=利用者側の防御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065776"/>
            <a:ext cx="11100816" cy="969264"/>
          </a:xfrm>
          <a:prstGeom prst="ROUNDED_RECTANGLE">
            <a:avLst>
              <a:gd name="adj" fmla="val 11321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157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国税庁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22960" y="5568696"/>
            <a:ext cx="1005840" cy="329184"/>
          </a:xfrm>
          <a:prstGeom prst="ROUNDED_RECTANGLE">
            <a:avLst>
              <a:gd name="adj" fmla="val 22222"/>
            </a:avLst>
          </a:prstGeom>
          <a:solidFill>
            <a:srgbClr val="4DC9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5686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0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本選実装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40280" y="5157216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法人番号公表サイト Web-API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40280" y="5522976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バイト求人の会社が実在するかチェック。要請が求める「商業登記電子証明書による法人の本人確認」と同じ方向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ほか利用予定: 東京都 消費生活相談データ / 金融庁 登録業者一覧 / 東京都 行政区域・人口データ 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🔦 ヤミバレ — 届いたら、貼るだけ。   yamibare.pages.dev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 × 安全設計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「怖い話」を扱うからこそ、安心して使える作りに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58968" cy="1600200"/>
          </a:xfrm>
          <a:prstGeom prst="ROUNDED_RECTANGLE">
            <a:avLst>
              <a:gd name="adj" fmla="val 6857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84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📱 単一HTML・依存ゼロ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URLひとつでどのスマホでも即動作。Cloudflare Pages配信。啓発現場(学校・店頭)でそのまま使える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0488" y="1920240"/>
            <a:ext cx="5458968" cy="1600200"/>
          </a:xfrm>
          <a:prstGeom prst="ROUNDED_RECTANGLE">
            <a:avLst>
              <a:gd name="adj" fmla="val 6857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2084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C7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🔒 端末内判定・外部送信ゼロ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64808" y="25786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貼った文面はどこにも送らない=誰にも知られず確認できる。相談ハードルを最小化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458968" cy="1600200"/>
          </a:xfrm>
          <a:prstGeom prst="ROUNDED_RECTANGLE">
            <a:avLst>
              <a:gd name="adj" fmla="val 6857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679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C9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⚖️ 「安全」と断定しない原則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36168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誤判定リスクに正面から対応。低スコアでも必ず注意喚起+相談導線を表示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0488" y="3703320"/>
            <a:ext cx="5458968" cy="1600200"/>
          </a:xfrm>
          <a:prstGeom prst="ROUNDED_RECTANGLE">
            <a:avLst>
              <a:gd name="adj" fmla="val 6857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38679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🤖 本選: Claude APIで三段構え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4808" y="436168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ルール判定 × 生成AIの文脈理解(新手口対応・教育目的の安全枠厳守) × オープンデータ根拠へ拡張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100816" cy="685800"/>
          </a:xfrm>
          <a:prstGeom prst="ROUNDED_RECTANGLE">
            <a:avLst>
              <a:gd name="adj" fmla="val 16000"/>
            </a:avLst>
          </a:prstGeom>
          <a:solidFill>
            <a:srgbClr val="232A4A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実行力: </a:t>
            </a:r>
            <a:pPr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「若者を守る」への原点回帰から24時間で、統計の事実確認→実装→全機能検証→公開まで到達(企画者1名+AIエージェントのハイブリッドチーム)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🔦 ヤミバレ — 届いたら、貼るだけ。   yamibare.pages.dev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ソーシャルインパクト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「守られる側」から、「守る側」へ。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1691640" cy="1691640"/>
          </a:xfrm>
          <a:prstGeom prst="ELLIPSE">
            <a:avLst/>
          </a:prstGeom>
          <a:solidFill>
            <a:srgbClr val="232A4A"/>
          </a:solidFill>
          <a:ln w="19050">
            <a:solidFill>
              <a:srgbClr val="2A3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574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86584" y="26060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71800" y="2057400"/>
            <a:ext cx="1691640" cy="1691640"/>
          </a:xfrm>
          <a:prstGeom prst="ELLIPSE">
            <a:avLst/>
          </a:prstGeom>
          <a:solidFill>
            <a:srgbClr val="232A4A"/>
          </a:solidFill>
          <a:ln w="19050">
            <a:solidFill>
              <a:srgbClr val="2A3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20574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2584" y="26060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57800" y="2057400"/>
            <a:ext cx="1691640" cy="1691640"/>
          </a:xfrm>
          <a:prstGeom prst="ELLIPSE">
            <a:avLst/>
          </a:prstGeom>
          <a:solidFill>
            <a:srgbClr val="232A4A"/>
          </a:solidFill>
          <a:ln w="19050">
            <a:solidFill>
              <a:srgbClr val="2A3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20574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8584" y="26060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543800" y="2057400"/>
            <a:ext cx="1691640" cy="1691640"/>
          </a:xfrm>
          <a:prstGeom prst="ELLIPSE">
            <a:avLst/>
          </a:prstGeom>
          <a:solidFill>
            <a:srgbClr val="232A4A"/>
          </a:solidFill>
          <a:ln w="19050">
            <a:solidFill>
              <a:srgbClr val="2A3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20574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シェアする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44584" y="26060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829800" y="2057400"/>
            <a:ext cx="1691640" cy="1691640"/>
          </a:xfrm>
          <a:prstGeom prst="ELLIPSE">
            <a:avLst/>
          </a:prstGeom>
          <a:solidFill>
            <a:srgbClr val="FFD54D"/>
          </a:solidFill>
          <a:ln w="19050">
            <a:solidFill>
              <a:srgbClr val="FFD5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20574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0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友達も守る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3602736" cy="1600200"/>
          </a:xfrm>
          <a:prstGeom prst="ROUNDED_RECTANGLE">
            <a:avLst>
              <a:gd name="adj" fmla="val 6857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315968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🫂 拡散が防犯になる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475488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シェアカードで「ヤミバレしとけば?」が若者の合言葉に。啓発が友達経由で届く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06824" y="4160520"/>
            <a:ext cx="3602736" cy="1600200"/>
          </a:xfrm>
          <a:prstGeom prst="ROUNDED_RECTANGLE">
            <a:avLst>
              <a:gd name="adj" fmla="val 6857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4315968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🏠 家族まで守る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35424" y="475488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若者が家庭の防犯ハブに。祖父母世代のニセ警察・還付金詐欺も同じ入口でチェック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4160520"/>
            <a:ext cx="3602736" cy="1600200"/>
          </a:xfrm>
          <a:prstGeom prst="ROUNDED_RECTANGLE">
            <a:avLst>
              <a:gd name="adj" fmla="val 6857"/>
            </a:avLst>
          </a:prstGeom>
          <a:solidFill>
            <a:srgbClr val="1E244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4315968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🗾 東京から全国へ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293608" y="475488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A3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警察庁統計+各県警データで横展開可能。判定エンジンとデータ層は分離設計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5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🔦 闇は、光を当てればバレる。  —  yamibare.pages.dev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2026-08-09T05:53:09Z</dcterms:created>
  <dcterms:modified xsi:type="dcterms:W3CDTF">2026-08-09T05:53:09Z</dcterms:modified>
</cp:coreProperties>
</file>